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</p:sldIdLst>
  <p:sldSz cx="18288000" cy="10287000"/>
  <p:notesSz cx="6858000" cy="9144000"/>
  <p:embeddedFontLst>
    <p:embeddedFont>
      <p:font typeface="Agrandir" panose="020B0604020202020204" charset="0"/>
      <p:regular r:id="rId10"/>
    </p:embeddedFont>
    <p:embeddedFont>
      <p:font typeface="Agrandir Bold" panose="020B0604020202020204" charset="0"/>
      <p:regular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Epilogue" panose="020B0604020202020204" charset="0"/>
      <p:regular r:id="rId16"/>
    </p:embeddedFont>
    <p:embeddedFont>
      <p:font typeface="Epilogue Bold" panose="020B0604020202020204" charset="0"/>
      <p:regular r:id="rId17"/>
    </p:embeddedFont>
    <p:embeddedFont>
      <p:font typeface="Fraunces Medium" panose="020B0604020202020204" charset="0"/>
      <p:regular r:id="rId18"/>
    </p:embeddedFont>
    <p:embeddedFont>
      <p:font typeface="Fredoka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57A"/>
    <a:srgbClr val="00167A"/>
    <a:srgbClr val="BED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22" autoAdjust="0"/>
  </p:normalViewPr>
  <p:slideViewPr>
    <p:cSldViewPr>
      <p:cViewPr>
        <p:scale>
          <a:sx n="50" d="100"/>
          <a:sy n="50" d="100"/>
        </p:scale>
        <p:origin x="73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2975865" cy="419135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16028145" y="7104106"/>
            <a:ext cx="2259855" cy="3182894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829795" y="6247131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10"/>
                </a:lnTo>
                <a:lnTo>
                  <a:pt x="0" y="5216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581400" y="3556471"/>
            <a:ext cx="1165891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7000" dirty="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Album Management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80471" y="7810500"/>
            <a:ext cx="4927057" cy="58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ka-GE" sz="3399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ეკა იაკობიშვილი</a:t>
            </a:r>
            <a:endParaRPr lang="en-US" sz="3399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4511493" y="-1659939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6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 flipH="1">
            <a:off x="16028145" y="7104106"/>
            <a:ext cx="2259855" cy="3182894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990600" y="7505700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10"/>
                </a:lnTo>
                <a:lnTo>
                  <a:pt x="0" y="5216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14400" y="1562100"/>
            <a:ext cx="13792200" cy="2293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grandir Bold" panose="020B0604020202020204" charset="0"/>
                <a:ea typeface="Agrandir"/>
                <a:cs typeface="Agrandir"/>
                <a:sym typeface="Agrandir"/>
              </a:rPr>
              <a:t>Album Management System </a:t>
            </a:r>
            <a:r>
              <a:rPr lang="ka-GE" sz="3600" b="1" dirty="0">
                <a:solidFill>
                  <a:schemeClr val="accent1">
                    <a:lumMod val="75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  <a:t>არის სისტემა, რომელიც მომხმარებელს საშუალებას აძლევს შექმნას, დაამატოს,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ka-GE" sz="3600" b="1" dirty="0">
                <a:solidFill>
                  <a:schemeClr val="accent1">
                    <a:lumMod val="75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  <a:t>გაფილტროს, წაშალოს და მოდიფიცირება გაუკეთოს ფიზიკურ მუსიკალური ალბომებს (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grandir Bold" panose="020B0604020202020204" charset="0"/>
                <a:ea typeface="Agrandir"/>
                <a:cs typeface="Agrandir"/>
                <a:sym typeface="Agrandir"/>
              </a:rPr>
              <a:t>CD, </a:t>
            </a:r>
            <a:r>
              <a:rPr lang="ka-GE" sz="3600" b="1" dirty="0">
                <a:solidFill>
                  <a:schemeClr val="accent1">
                    <a:lumMod val="75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  <a:t>კასეტა ან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grandir Bold" panose="020B0604020202020204" charset="0"/>
                <a:ea typeface="Agrandir"/>
                <a:cs typeface="Agrandir"/>
                <a:sym typeface="Agrandir"/>
              </a:rPr>
              <a:t>vinyl)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14511493" y="-1659939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3" name="Picture 22" descr="The image displays a simple web page interface with a welcome message and options to manage a collection of albums.">
            <a:extLst>
              <a:ext uri="{FF2B5EF4-FFF2-40B4-BE49-F238E27FC236}">
                <a16:creationId xmlns:a16="http://schemas.microsoft.com/office/drawing/2014/main" id="{D916E074-AE0E-7A6C-4720-908FB1326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9" y="4457700"/>
            <a:ext cx="16495583" cy="3469283"/>
          </a:xfrm>
          <a:prstGeom prst="rect">
            <a:avLst/>
          </a:prstGeom>
        </p:spPr>
      </p:pic>
      <p:sp>
        <p:nvSpPr>
          <p:cNvPr id="24" name="TextBox 6">
            <a:extLst>
              <a:ext uri="{FF2B5EF4-FFF2-40B4-BE49-F238E27FC236}">
                <a16:creationId xmlns:a16="http://schemas.microsoft.com/office/drawing/2014/main" id="{CD975F4D-5999-FB79-09B4-BBCB90BC2B33}"/>
              </a:ext>
            </a:extLst>
          </p:cNvPr>
          <p:cNvSpPr txBox="1"/>
          <p:nvPr/>
        </p:nvSpPr>
        <p:spPr>
          <a:xfrm>
            <a:off x="904430" y="3602252"/>
            <a:ext cx="13792200" cy="556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grandir Bold" panose="020B0604020202020204" charset="0"/>
                <a:ea typeface="Agrandir"/>
                <a:cs typeface="Agrandir"/>
                <a:sym typeface="Agrandir"/>
              </a:rPr>
              <a:t>_</a:t>
            </a:r>
            <a:r>
              <a:rPr lang="ka-GE" sz="3600" b="1" dirty="0">
                <a:solidFill>
                  <a:schemeClr val="accent1">
                    <a:lumMod val="75000"/>
                  </a:schemeClr>
                </a:solidFill>
                <a:latin typeface="Agrandir Bold" panose="020B0604020202020204" charset="0"/>
                <a:ea typeface="Agrandir"/>
                <a:cs typeface="Agrandir"/>
                <a:sym typeface="Agrandir"/>
              </a:rPr>
              <a:t>________________________________________________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Agrandir Bold" panose="020B0604020202020204" charset="0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25668"/>
            <a:ext cx="2975865" cy="419135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16028145" y="7112275"/>
            <a:ext cx="2259855" cy="3182894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287874" y="7271504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4511493" y="-1659939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819400" y="759440"/>
            <a:ext cx="11582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86"/>
              </a:lnSpc>
            </a:pPr>
            <a:r>
              <a:rPr lang="ka-GE" sz="6000" b="1" dirty="0">
                <a:solidFill>
                  <a:schemeClr val="accent1">
                    <a:lumMod val="75000"/>
                  </a:schemeClr>
                </a:solidFill>
                <a:latin typeface="Fredoka" panose="020B0604020202020204" charset="0"/>
                <a:ea typeface="Fredoka"/>
                <a:cs typeface="Fredoka"/>
                <a:sym typeface="Fredoka"/>
              </a:rPr>
              <a:t>გამოყენებული ტექნოლოგიები: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14E41E-B4E7-BD82-6420-0B3C9659C99E}"/>
              </a:ext>
            </a:extLst>
          </p:cNvPr>
          <p:cNvSpPr txBox="1"/>
          <p:nvPr/>
        </p:nvSpPr>
        <p:spPr>
          <a:xfrm>
            <a:off x="7292515" y="2171700"/>
            <a:ext cx="9547685" cy="7877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Entity Framework Core</a:t>
            </a:r>
            <a:r>
              <a:rPr lang="ka-GE" sz="2800" b="1" dirty="0"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 </a:t>
            </a:r>
          </a:p>
          <a:p>
            <a:pPr>
              <a:lnSpc>
                <a:spcPct val="121000"/>
              </a:lnSpc>
            </a:pP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C# კლასები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დან 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ავტომატურად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იქმნება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 SQL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ცხრილები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.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მიგრაციების საშუალებით ხდება ბაზის მოდიფიცირება;</a:t>
            </a:r>
            <a:endParaRPr lang="en-US" sz="2800" dirty="0"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ka-GE" sz="2800" b="1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მონაცემთა ბაზა</a:t>
            </a:r>
            <a:endParaRPr lang="en-US" sz="2800" b="1" dirty="0"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>
              <a:lnSpc>
                <a:spcPct val="121000"/>
              </a:lnSpc>
            </a:pP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Microsoft SQL Server —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რელაციური მონაცემთა ბაზა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.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უზრუნველყოფს მონაცემთა მთლიანობას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და დიდი მოცულობის ჩანაწერების ეფექტურ მართვას;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Backend</a:t>
            </a:r>
            <a:endParaRPr lang="ka-GE" sz="2800" b="1" dirty="0"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>
              <a:lnSpc>
                <a:spcPct val="121000"/>
              </a:lnSpc>
            </a:pP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C#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და 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ASP.NET Core MVC —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განცალკევებული 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Model, View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და 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Controller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კომპონენტები;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Frontend</a:t>
            </a:r>
            <a:endParaRPr lang="ka-GE" sz="2800" b="1" dirty="0"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>
              <a:lnSpc>
                <a:spcPct val="121000"/>
              </a:lnSpc>
            </a:pP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ASP.NET Core MVC Razor Views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 + 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HTML, CSS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+ 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Bootswatch 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- უზრუნველყოფს თანამედროვე და ადაპტირებად </a:t>
            </a:r>
            <a:r>
              <a:rPr lang="en-US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UI-</a:t>
            </a:r>
            <a:r>
              <a:rPr lang="ka-GE" sz="28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ს.</a:t>
            </a:r>
            <a:endParaRPr lang="en-US" sz="2800" b="1" dirty="0"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  <p:pic>
        <p:nvPicPr>
          <p:cNvPr id="46" name="Picture 45" descr="What is Entity Framework">
            <a:extLst>
              <a:ext uri="{FF2B5EF4-FFF2-40B4-BE49-F238E27FC236}">
                <a16:creationId xmlns:a16="http://schemas.microsoft.com/office/drawing/2014/main" id="{03BE9D7B-5044-8536-3446-034A08F85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446" y="3695700"/>
            <a:ext cx="3885203" cy="3885203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6164" y="-74938"/>
            <a:ext cx="2975865" cy="4191359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a-GE" noProof="1"/>
          </a:p>
        </p:txBody>
      </p:sp>
      <p:sp>
        <p:nvSpPr>
          <p:cNvPr id="3" name="Freeform 3"/>
          <p:cNvSpPr/>
          <p:nvPr/>
        </p:nvSpPr>
        <p:spPr>
          <a:xfrm rot="-10800000" flipH="1">
            <a:off x="16051236" y="7135279"/>
            <a:ext cx="2259855" cy="3182894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a-GE" noProof="1"/>
          </a:p>
        </p:txBody>
      </p:sp>
      <p:sp>
        <p:nvSpPr>
          <p:cNvPr id="4" name="Freeform 4"/>
          <p:cNvSpPr/>
          <p:nvPr/>
        </p:nvSpPr>
        <p:spPr>
          <a:xfrm>
            <a:off x="-1287874" y="7271504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a-GE" noProof="1"/>
          </a:p>
        </p:txBody>
      </p:sp>
      <p:sp>
        <p:nvSpPr>
          <p:cNvPr id="5" name="Freeform 5"/>
          <p:cNvSpPr/>
          <p:nvPr/>
        </p:nvSpPr>
        <p:spPr>
          <a:xfrm flipH="1" flipV="1">
            <a:off x="14511493" y="-1659939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a-GE" noProof="1"/>
          </a:p>
        </p:txBody>
      </p:sp>
      <p:sp>
        <p:nvSpPr>
          <p:cNvPr id="7" name="TextBox 7"/>
          <p:cNvSpPr txBox="1"/>
          <p:nvPr/>
        </p:nvSpPr>
        <p:spPr>
          <a:xfrm>
            <a:off x="2590800" y="1446066"/>
            <a:ext cx="11455339" cy="902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ka-GE" sz="6590" b="1" noProof="1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ძირითადი ფუნქციონალი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F58BAA-E828-62A0-53AD-3573D61A42BD}"/>
              </a:ext>
            </a:extLst>
          </p:cNvPr>
          <p:cNvSpPr txBox="1"/>
          <p:nvPr/>
        </p:nvSpPr>
        <p:spPr>
          <a:xfrm>
            <a:off x="8839200" y="6698915"/>
            <a:ext cx="6324600" cy="1569660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a-GE" sz="2400" b="1" kern="0" noProof="1"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განლაგება</a:t>
            </a:r>
          </a:p>
          <a:p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ალბომები ნაჩვენებია როგორც დინამიურ ცხრილში, ასევე მთავარ გვერდზე „ბარათების" სახით</a:t>
            </a:r>
            <a:endParaRPr lang="ka-GE" sz="2400" kern="0" noProof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15AF88-894A-876A-851A-73199B39F497}"/>
              </a:ext>
            </a:extLst>
          </p:cNvPr>
          <p:cNvSpPr txBox="1"/>
          <p:nvPr/>
        </p:nvSpPr>
        <p:spPr>
          <a:xfrm>
            <a:off x="1471769" y="3935785"/>
            <a:ext cx="6324600" cy="1569660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lang="ka-GE" sz="2400" b="1" kern="0" noProof="1"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CRUD</a:t>
            </a:r>
          </a:p>
          <a:p>
            <a:pPr>
              <a:defRPr/>
            </a:pPr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სრული Create / Read / Update / Delete ფუნქციონალი ალბომებისთვის. </a:t>
            </a:r>
          </a:p>
          <a:p>
            <a:pPr>
              <a:defRPr/>
            </a:pPr>
            <a:endParaRPr lang="ka-GE" sz="2400" kern="0" noProof="1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81829E-E8F4-D19B-8C41-D47125489A14}"/>
              </a:ext>
            </a:extLst>
          </p:cNvPr>
          <p:cNvSpPr txBox="1"/>
          <p:nvPr/>
        </p:nvSpPr>
        <p:spPr>
          <a:xfrm>
            <a:off x="8915400" y="3930697"/>
            <a:ext cx="6324600" cy="2386423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04000"/>
              </a:lnSpc>
              <a:defRPr/>
            </a:pPr>
            <a:r>
              <a:rPr lang="ka-GE" sz="2400" b="1" kern="0" noProof="1"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ფორმატის კატეგორიზაცია</a:t>
            </a:r>
          </a:p>
          <a:p>
            <a:pPr>
              <a:lnSpc>
                <a:spcPct val="104000"/>
              </a:lnSpc>
              <a:defRPr/>
            </a:pPr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ალბომები ავტომატურად იყოფა სამ ფიზიკურ ფორმატად: </a:t>
            </a:r>
            <a:r>
              <a:rPr lang="ka-GE" sz="2400" kern="0" noProof="1"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Vinyl</a:t>
            </a:r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ka-GE" sz="2400" kern="0" noProof="1"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CD</a:t>
            </a:r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 და </a:t>
            </a:r>
            <a:r>
              <a:rPr lang="ka-GE" sz="2400" kern="0" noProof="1"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Cassette</a:t>
            </a:r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. მომხმარებელს შეუძლია გაფილტროს კოლექცია ფორმატის მიხედვით.</a:t>
            </a:r>
            <a:endParaRPr lang="ka-GE" sz="2400" kern="0" noProof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C2AE78-4C8C-BD1E-DFB9-A6F6C885D6EF}"/>
              </a:ext>
            </a:extLst>
          </p:cNvPr>
          <p:cNvSpPr txBox="1"/>
          <p:nvPr/>
        </p:nvSpPr>
        <p:spPr>
          <a:xfrm>
            <a:off x="1471769" y="5882152"/>
            <a:ext cx="6760962" cy="2386423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04000"/>
              </a:lnSpc>
              <a:defRPr/>
            </a:pPr>
            <a:r>
              <a:rPr lang="ka-GE" sz="2400" b="1" kern="0" noProof="1"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ფლობის სტატუსი</a:t>
            </a:r>
          </a:p>
          <a:p>
            <a:pPr>
              <a:lnSpc>
                <a:spcPct val="104000"/>
              </a:lnSpc>
              <a:defRPr/>
            </a:pPr>
            <a:r>
              <a:rPr lang="ka-GE" sz="2400" kern="0" noProof="1"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IsOwned</a:t>
            </a:r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 ველი აკონტროლებს ალბომის სტატუსს: </a:t>
            </a:r>
            <a:r>
              <a:rPr lang="ka-GE" sz="2400" i="1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Owned</a:t>
            </a:r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 (კოლექციაშია) ან უბრალოდ </a:t>
            </a:r>
            <a:r>
              <a:rPr lang="ka-GE" sz="2400" i="1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Wishlist</a:t>
            </a:r>
            <a:r>
              <a:rPr lang="ka-GE" sz="2400" kern="0" noProof="1">
                <a:latin typeface="Epilogue" pitchFamily="34" charset="0"/>
                <a:ea typeface="Epilogue" pitchFamily="34" charset="-122"/>
                <a:cs typeface="Epilogue" pitchFamily="34" charset="-120"/>
              </a:rPr>
              <a:t>. ეს საშუალებას აძლევს მომხმარებელს დაინახოს, რა აქვს და რა სურს.</a:t>
            </a:r>
            <a:endParaRPr lang="ka-GE" sz="2400" kern="0" noProof="1"/>
          </a:p>
          <a:p>
            <a:pPr lvl="0">
              <a:lnSpc>
                <a:spcPct val="104000"/>
              </a:lnSpc>
              <a:defRPr/>
            </a:pPr>
            <a:endParaRPr lang="ka-GE" sz="2400" kern="0" noProof="1"/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 flipH="1">
            <a:off x="16129373" y="7909074"/>
            <a:ext cx="2259855" cy="3182894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287874" y="7271504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4511493" y="-1659939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" name="Picture 19" descr="The image is an interface for a music album management system, displaying a welcome message and options to explore albums, including a list of various artists and albums.&#10;&#10;AI-generated content may be incorrect.">
            <a:extLst>
              <a:ext uri="{FF2B5EF4-FFF2-40B4-BE49-F238E27FC236}">
                <a16:creationId xmlns:a16="http://schemas.microsoft.com/office/drawing/2014/main" id="{D71B5179-0294-21ED-5E44-0D32550D2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35325"/>
            <a:ext cx="15824573" cy="4808175"/>
          </a:xfrm>
          <a:prstGeom prst="rect">
            <a:avLst/>
          </a:prstGeom>
        </p:spPr>
      </p:pic>
      <p:pic>
        <p:nvPicPr>
          <p:cNvPr id="8" name="Picture 7" descr="OK Computer&#10;&#10;AI-generated content may be incorrect.">
            <a:extLst>
              <a:ext uri="{FF2B5EF4-FFF2-40B4-BE49-F238E27FC236}">
                <a16:creationId xmlns:a16="http://schemas.microsoft.com/office/drawing/2014/main" id="{5C29AF03-7E9E-8E03-D0D2-38D579A813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13" t="1974" r="7246" b="26412"/>
          <a:stretch>
            <a:fillRect/>
          </a:stretch>
        </p:blipFill>
        <p:spPr>
          <a:xfrm>
            <a:off x="762000" y="5448300"/>
            <a:ext cx="15428055" cy="42672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E43394-BD08-E611-E6A2-A575C8271263}"/>
              </a:ext>
            </a:extLst>
          </p:cNvPr>
          <p:cNvCxnSpPr>
            <a:cxnSpLocks/>
          </p:cNvCxnSpPr>
          <p:nvPr/>
        </p:nvCxnSpPr>
        <p:spPr>
          <a:xfrm>
            <a:off x="914400" y="5379675"/>
            <a:ext cx="7391400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88C44B-7E2C-B815-37D1-49896BFD6A15}"/>
              </a:ext>
            </a:extLst>
          </p:cNvPr>
          <p:cNvCxnSpPr>
            <a:cxnSpLocks/>
          </p:cNvCxnSpPr>
          <p:nvPr/>
        </p:nvCxnSpPr>
        <p:spPr>
          <a:xfrm>
            <a:off x="8686800" y="3314700"/>
            <a:ext cx="0" cy="27432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4CD2131-7B7E-1B26-4F01-32CFE0BF173E}"/>
              </a:ext>
            </a:extLst>
          </p:cNvPr>
          <p:cNvCxnSpPr>
            <a:cxnSpLocks/>
          </p:cNvCxnSpPr>
          <p:nvPr/>
        </p:nvCxnSpPr>
        <p:spPr>
          <a:xfrm>
            <a:off x="9042773" y="5379675"/>
            <a:ext cx="714728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 flipH="1">
            <a:off x="16055854" y="7104106"/>
            <a:ext cx="2259855" cy="3182894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287874" y="7271504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4097000" y="-1093558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1" name="Picture 20" descr="The image depicts a flowchart or process diagram, illustrating a user interface with steps for creating and viewing a new album, handling errors, and interacting with a database.&#10;&#10;AI-generated content may be incorrect.">
            <a:extLst>
              <a:ext uri="{FF2B5EF4-FFF2-40B4-BE49-F238E27FC236}">
                <a16:creationId xmlns:a16="http://schemas.microsoft.com/office/drawing/2014/main" id="{41C8B585-7E5A-0B51-A5A3-A0E3AE388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181100"/>
            <a:ext cx="11658600" cy="899074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7F780A1-460C-1356-B6BB-8698A7F35387}"/>
              </a:ext>
            </a:extLst>
          </p:cNvPr>
          <p:cNvGrpSpPr/>
          <p:nvPr/>
        </p:nvGrpSpPr>
        <p:grpSpPr>
          <a:xfrm>
            <a:off x="381453" y="2088860"/>
            <a:ext cx="6900316" cy="2057400"/>
            <a:chOff x="327667" y="4686301"/>
            <a:chExt cx="6900316" cy="2057400"/>
          </a:xfrm>
        </p:grpSpPr>
        <p:sp>
          <p:nvSpPr>
            <p:cNvPr id="23" name="Shape 8">
              <a:extLst>
                <a:ext uri="{FF2B5EF4-FFF2-40B4-BE49-F238E27FC236}">
                  <a16:creationId xmlns:a16="http://schemas.microsoft.com/office/drawing/2014/main" id="{050241DA-B3F7-7AFC-0B03-F8E5F8B31385}"/>
                </a:ext>
              </a:extLst>
            </p:cNvPr>
            <p:cNvSpPr/>
            <p:nvPr/>
          </p:nvSpPr>
          <p:spPr>
            <a:xfrm>
              <a:off x="327667" y="4686301"/>
              <a:ext cx="6900316" cy="2057400"/>
            </a:xfrm>
            <a:prstGeom prst="roundRect">
              <a:avLst>
                <a:gd name="adj" fmla="val 7002"/>
              </a:avLst>
            </a:prstGeom>
            <a:solidFill>
              <a:srgbClr val="00357A"/>
            </a:solidFill>
            <a:ln/>
          </p:spPr>
          <p:txBody>
            <a:bodyPr/>
            <a:lstStyle/>
            <a:p>
              <a:endParaRPr lang="ka-GE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5" name="Text 9">
              <a:extLst>
                <a:ext uri="{FF2B5EF4-FFF2-40B4-BE49-F238E27FC236}">
                  <a16:creationId xmlns:a16="http://schemas.microsoft.com/office/drawing/2014/main" id="{EE74A4D6-C1D2-A9D0-44C3-7D10B261E3EA}"/>
                </a:ext>
              </a:extLst>
            </p:cNvPr>
            <p:cNvSpPr/>
            <p:nvPr/>
          </p:nvSpPr>
          <p:spPr>
            <a:xfrm>
              <a:off x="457200" y="4762500"/>
              <a:ext cx="2599130" cy="5090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Fraunces Medium" pitchFamily="34" charset="0"/>
                  <a:ea typeface="Fraunces Medium" pitchFamily="34" charset="-122"/>
                  <a:cs typeface="Fraunces Medium" pitchFamily="34" charset="-120"/>
                </a:rPr>
                <a:t>ტექნიკური დეტალები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5BBD3698-CB88-3432-06D4-8E7DC5A7FFE0}"/>
                </a:ext>
              </a:extLst>
            </p:cNvPr>
            <p:cNvSpPr/>
            <p:nvPr/>
          </p:nvSpPr>
          <p:spPr>
            <a:xfrm>
              <a:off x="467917" y="5080105"/>
              <a:ext cx="6645622" cy="15873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111760" indent="-111760" algn="l">
                <a:lnSpc>
                  <a:spcPct val="107000"/>
                </a:lnSpc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HTTP GET → Create() აბრუნებს ცარიელ View-ს</a:t>
              </a:r>
              <a:endParaRPr lang="en-US" dirty="0">
                <a:solidFill>
                  <a:schemeClr val="bg1"/>
                </a:solidFill>
              </a:endParaRPr>
            </a:p>
            <a:p>
              <a:pPr marL="111760" indent="-111760" algn="l">
                <a:lnSpc>
                  <a:spcPct val="107000"/>
                </a:lnSpc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HTTP POST → Create(Album album) იღებს POST მონაცემებს</a:t>
              </a:r>
              <a:endParaRPr lang="en-US" dirty="0">
                <a:solidFill>
                  <a:schemeClr val="bg1"/>
                </a:solidFill>
              </a:endParaRPr>
            </a:p>
            <a:p>
              <a:pPr marL="111760" indent="-111760" algn="l">
                <a:lnSpc>
                  <a:spcPct val="107000"/>
                </a:lnSpc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ModelState.IsValid ამოწმებს [Required] ატრიბუტებს</a:t>
              </a:r>
              <a:endParaRPr lang="en-US" dirty="0">
                <a:solidFill>
                  <a:schemeClr val="bg1"/>
                </a:solidFill>
              </a:endParaRPr>
            </a:p>
            <a:p>
              <a:pPr marL="111760" indent="-111760" algn="l">
                <a:lnSpc>
                  <a:spcPct val="107000"/>
                </a:lnSpc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SaveChangesAsync() ინახავს ბაზაში</a:t>
              </a:r>
              <a:endParaRPr lang="en-US" dirty="0">
                <a:solidFill>
                  <a:schemeClr val="bg1"/>
                </a:solidFill>
              </a:endParaRPr>
            </a:p>
            <a:p>
              <a:pPr marL="111760" indent="-111760" algn="l">
                <a:lnSpc>
                  <a:spcPct val="107000"/>
                </a:lnSpc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RedirectToAction(nameof(Index)) ახდენს გადამისამართებას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8600" y="647660"/>
            <a:ext cx="9347078" cy="90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 dirty="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Case: Create &amp; Details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9AF28DB-8F9E-06ED-0D2D-9E746BB5EB66}"/>
              </a:ext>
            </a:extLst>
          </p:cNvPr>
          <p:cNvGrpSpPr/>
          <p:nvPr/>
        </p:nvGrpSpPr>
        <p:grpSpPr>
          <a:xfrm>
            <a:off x="381453" y="4515250"/>
            <a:ext cx="6900316" cy="2157524"/>
            <a:chOff x="915953" y="6574056"/>
            <a:chExt cx="6900316" cy="2157524"/>
          </a:xfrm>
        </p:grpSpPr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B9B458B4-4D9D-CF09-F0CD-8C9EF4B86A10}"/>
                </a:ext>
              </a:extLst>
            </p:cNvPr>
            <p:cNvSpPr/>
            <p:nvPr/>
          </p:nvSpPr>
          <p:spPr>
            <a:xfrm>
              <a:off x="915953" y="6574056"/>
              <a:ext cx="6900316" cy="2157524"/>
            </a:xfrm>
            <a:prstGeom prst="roundRect">
              <a:avLst>
                <a:gd name="adj" fmla="val 7002"/>
              </a:avLst>
            </a:prstGeom>
            <a:solidFill>
              <a:srgbClr val="00357A"/>
            </a:solidFill>
            <a:ln/>
          </p:spPr>
          <p:txBody>
            <a:bodyPr/>
            <a:lstStyle/>
            <a:p>
              <a:endParaRPr lang="ka-GE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94762C6F-4F92-E4E2-A812-32EBA9D8136B}"/>
                </a:ext>
              </a:extLst>
            </p:cNvPr>
            <p:cNvSpPr/>
            <p:nvPr/>
          </p:nvSpPr>
          <p:spPr>
            <a:xfrm>
              <a:off x="999382" y="7048500"/>
              <a:ext cx="6816887" cy="15837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7000"/>
                </a:lnSpc>
                <a:buNone/>
              </a:pP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სერვერული ვალიდაცია ეყრდნობა Data Annotation ატრიბუტებს Model კლასში. ველები არის სავალდებულო ([Required]), ხოლო </a:t>
              </a:r>
              <a:r>
                <a:rPr lang="en-US" b="1" dirty="0">
                  <a:solidFill>
                    <a:schemeClr val="bg1"/>
                  </a:solidFill>
                  <a:latin typeface="Epilogue Bold" pitchFamily="34" charset="0"/>
                  <a:ea typeface="Epilogue Bold" pitchFamily="34" charset="-122"/>
                  <a:cs typeface="Epilogue Bold" pitchFamily="34" charset="-120"/>
                </a:rPr>
                <a:t>Rating</a:t>
              </a:r>
              <a:r>
                <a:rPr lang="ka-GE" b="1" dirty="0">
                  <a:solidFill>
                    <a:schemeClr val="bg1"/>
                  </a:solidFill>
                  <a:latin typeface="Epilogue Bold" pitchFamily="34" charset="0"/>
                  <a:ea typeface="Epilogue Bold" pitchFamily="34" charset="-122"/>
                  <a:cs typeface="Epilogue Bold" pitchFamily="34" charset="-120"/>
                </a:rPr>
                <a:t> 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უნდა იყოს 0-დან 10.0-მდე დიაპაზონში ([Range]). თუ ვალიდაცია ჩავარდება, </a:t>
              </a:r>
              <a:r>
                <a:rPr lang="ka-GE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გვერდი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 ხელახლა აისახება შეცდომის შეტყობინებებით.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E162805B-47A7-7A4A-2033-8B461CAEB5BA}"/>
                </a:ext>
              </a:extLst>
            </p:cNvPr>
            <p:cNvSpPr/>
            <p:nvPr/>
          </p:nvSpPr>
          <p:spPr>
            <a:xfrm>
              <a:off x="999382" y="6681201"/>
              <a:ext cx="1447800" cy="3929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Fraunces Medium" pitchFamily="34" charset="0"/>
                  <a:ea typeface="Fraunces Medium" pitchFamily="34" charset="-122"/>
                  <a:cs typeface="Fraunces Medium" pitchFamily="34" charset="-120"/>
                </a:rPr>
                <a:t>ვალიდაცი</a:t>
              </a:r>
              <a:r>
                <a:rPr lang="ka-GE" sz="1900" b="1" dirty="0">
                  <a:solidFill>
                    <a:schemeClr val="bg1"/>
                  </a:solidFill>
                  <a:latin typeface="Fraunces Medium" pitchFamily="34" charset="0"/>
                  <a:ea typeface="Fraunces Medium" pitchFamily="34" charset="-122"/>
                  <a:cs typeface="Fraunces Medium" pitchFamily="34" charset="-120"/>
                </a:rPr>
                <a:t>ა</a:t>
              </a:r>
              <a:endParaRPr lang="en-US" sz="19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66CA31A-4B09-1193-0F7D-BB046AD0A4C6}"/>
              </a:ext>
            </a:extLst>
          </p:cNvPr>
          <p:cNvGrpSpPr/>
          <p:nvPr/>
        </p:nvGrpSpPr>
        <p:grpSpPr>
          <a:xfrm>
            <a:off x="393903" y="6973655"/>
            <a:ext cx="6933517" cy="1979845"/>
            <a:chOff x="915953" y="6574056"/>
            <a:chExt cx="6933517" cy="2157524"/>
          </a:xfrm>
        </p:grpSpPr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5487FD73-64D4-D042-2C46-F97162962E1C}"/>
                </a:ext>
              </a:extLst>
            </p:cNvPr>
            <p:cNvSpPr/>
            <p:nvPr/>
          </p:nvSpPr>
          <p:spPr>
            <a:xfrm>
              <a:off x="915953" y="6574056"/>
              <a:ext cx="6900316" cy="2157524"/>
            </a:xfrm>
            <a:prstGeom prst="roundRect">
              <a:avLst>
                <a:gd name="adj" fmla="val 7002"/>
              </a:avLst>
            </a:prstGeom>
            <a:solidFill>
              <a:srgbClr val="00357A"/>
            </a:solidFill>
            <a:ln/>
          </p:spPr>
          <p:txBody>
            <a:bodyPr/>
            <a:lstStyle/>
            <a:p>
              <a:endParaRPr lang="ka-GE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7" name="Text 12">
              <a:extLst>
                <a:ext uri="{FF2B5EF4-FFF2-40B4-BE49-F238E27FC236}">
                  <a16:creationId xmlns:a16="http://schemas.microsoft.com/office/drawing/2014/main" id="{7D3BDAE5-2519-94D9-126D-75E9BBC5F030}"/>
                </a:ext>
              </a:extLst>
            </p:cNvPr>
            <p:cNvSpPr/>
            <p:nvPr/>
          </p:nvSpPr>
          <p:spPr>
            <a:xfrm>
              <a:off x="1032583" y="7107886"/>
              <a:ext cx="6816887" cy="13407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7000"/>
                </a:lnSpc>
                <a:buNone/>
              </a:pPr>
              <a:r>
                <a:rPr lang="ka-GE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ცხრილში თითოეული "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Details" </a:t>
              </a:r>
              <a:r>
                <a:rPr lang="ka-GE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ღილაკი გენერირდება 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Razor-</a:t>
              </a:r>
              <a:r>
                <a:rPr lang="ka-GE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ის 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asp-action="Details" </a:t>
              </a:r>
              <a:r>
                <a:rPr lang="ka-GE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და 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asp-route-id="@item.Id" </a:t>
              </a:r>
              <a:r>
                <a:rPr lang="ka-GE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ატრიბუტებით. ეს ქმნის 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URL-</a:t>
              </a:r>
              <a:r>
                <a:rPr lang="ka-GE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ს ფორმატით /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Albums/Details/5, </a:t>
              </a:r>
              <a:r>
                <a:rPr lang="ka-GE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სადაც 5 არის ალბომის უნიკალური </a:t>
              </a:r>
              <a:r>
                <a:rPr lang="en-US" dirty="0">
                  <a:solidFill>
                    <a:schemeClr val="bg1"/>
                  </a:solidFill>
                  <a:latin typeface="Epilogue" pitchFamily="34" charset="0"/>
                  <a:ea typeface="Epilogue" pitchFamily="34" charset="-122"/>
                  <a:cs typeface="Epilogue" pitchFamily="34" charset="-120"/>
                </a:rPr>
                <a:t>Primary Key.</a:t>
              </a:r>
            </a:p>
          </p:txBody>
        </p:sp>
        <p:sp>
          <p:nvSpPr>
            <p:cNvPr id="38" name="Text 11">
              <a:extLst>
                <a:ext uri="{FF2B5EF4-FFF2-40B4-BE49-F238E27FC236}">
                  <a16:creationId xmlns:a16="http://schemas.microsoft.com/office/drawing/2014/main" id="{A4FC0586-536F-242E-2DF8-C0745C375D8F}"/>
                </a:ext>
              </a:extLst>
            </p:cNvPr>
            <p:cNvSpPr/>
            <p:nvPr/>
          </p:nvSpPr>
          <p:spPr>
            <a:xfrm>
              <a:off x="999382" y="6681201"/>
              <a:ext cx="1447800" cy="3929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Fraunces Medium" pitchFamily="34" charset="0"/>
                  <a:ea typeface="Fraunces Medium" pitchFamily="34" charset="-122"/>
                  <a:cs typeface="Fraunces Medium" pitchFamily="34" charset="-120"/>
                </a:rPr>
                <a:t>Routing </a:t>
              </a:r>
              <a:r>
                <a:rPr lang="ka-GE" sz="2000" b="1" dirty="0">
                  <a:solidFill>
                    <a:schemeClr val="bg1"/>
                  </a:solidFill>
                  <a:latin typeface="Fraunces Medium" pitchFamily="34" charset="0"/>
                  <a:ea typeface="Fraunces Medium" pitchFamily="34" charset="-122"/>
                  <a:cs typeface="Fraunces Medium" pitchFamily="34" charset="-120"/>
                </a:rPr>
                <a:t>და პარამეტრები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00000" flipH="1">
            <a:off x="16028145" y="7117738"/>
            <a:ext cx="2259855" cy="3182894"/>
          </a:xfrm>
          <a:custGeom>
            <a:avLst/>
            <a:gdLst/>
            <a:ahLst/>
            <a:cxnLst/>
            <a:rect l="l" t="t" r="r" b="b"/>
            <a:pathLst>
              <a:path w="2259855" h="3182894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287874" y="7271504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4511493" y="-1659939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0" descr="The image is a user interface for creating a new album, with fields for inputting the album's details, such as name, artist, genre, description, and type, and options to rate and save the album.&#10;&#10;AI-generated content may be incorrect.">
            <a:extLst>
              <a:ext uri="{FF2B5EF4-FFF2-40B4-BE49-F238E27FC236}">
                <a16:creationId xmlns:a16="http://schemas.microsoft.com/office/drawing/2014/main" id="{F83B1313-4C81-0089-BACA-7E81EAF20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63302"/>
            <a:ext cx="5562600" cy="691056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15" name="Picture 14" descr="OK Computer&#10;&#10;AI-generated content may be incorrect.">
            <a:extLst>
              <a:ext uri="{FF2B5EF4-FFF2-40B4-BE49-F238E27FC236}">
                <a16:creationId xmlns:a16="http://schemas.microsoft.com/office/drawing/2014/main" id="{7736FF70-93E5-5ED8-6593-A068E695A0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13" t="10975" r="7246" b="26030"/>
          <a:stretch>
            <a:fillRect/>
          </a:stretch>
        </p:blipFill>
        <p:spPr>
          <a:xfrm>
            <a:off x="3598147" y="5551053"/>
            <a:ext cx="13335000" cy="37072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 descr="To Pimp a Butterfly&#10;&#10;AI-generated content may be incorrect.">
            <a:extLst>
              <a:ext uri="{FF2B5EF4-FFF2-40B4-BE49-F238E27FC236}">
                <a16:creationId xmlns:a16="http://schemas.microsoft.com/office/drawing/2014/main" id="{39F377BE-CBC6-C040-41C1-C835B9EC6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9400" y="647700"/>
            <a:ext cx="7138053" cy="439925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85AD02-EEEE-B91E-CC89-E918B71E52E2}"/>
              </a:ext>
            </a:extLst>
          </p:cNvPr>
          <p:cNvCxnSpPr>
            <a:cxnSpLocks/>
          </p:cNvCxnSpPr>
          <p:nvPr/>
        </p:nvCxnSpPr>
        <p:spPr>
          <a:xfrm flipH="1" flipV="1">
            <a:off x="13944600" y="4838700"/>
            <a:ext cx="304800" cy="256597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D982F4B3-9DA6-0738-7A4D-268E4FB6D1A6}"/>
              </a:ext>
            </a:extLst>
          </p:cNvPr>
          <p:cNvCxnSpPr>
            <a:cxnSpLocks/>
            <a:endCxn id="11" idx="3"/>
          </p:cNvCxnSpPr>
          <p:nvPr/>
        </p:nvCxnSpPr>
        <p:spPr>
          <a:xfrm rot="5400000" flipH="1" flipV="1">
            <a:off x="4657244" y="4390544"/>
            <a:ext cx="1734515" cy="990598"/>
          </a:xfrm>
          <a:prstGeom prst="curvedConnector4">
            <a:avLst>
              <a:gd name="adj1" fmla="val 44703"/>
              <a:gd name="adj2" fmla="val 167887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Freeform 2">
            <a:extLst>
              <a:ext uri="{FF2B5EF4-FFF2-40B4-BE49-F238E27FC236}">
                <a16:creationId xmlns:a16="http://schemas.microsoft.com/office/drawing/2014/main" id="{B969DAC7-6F2E-E7F8-28C8-ED7F7E2C77ED}"/>
              </a:ext>
            </a:extLst>
          </p:cNvPr>
          <p:cNvSpPr/>
          <p:nvPr/>
        </p:nvSpPr>
        <p:spPr>
          <a:xfrm rot="10800000">
            <a:off x="-1" y="0"/>
            <a:ext cx="2477514" cy="2781300"/>
          </a:xfrm>
          <a:custGeom>
            <a:avLst/>
            <a:gdLst/>
            <a:ahLst/>
            <a:cxnLst/>
            <a:rect l="l" t="t" r="r" b="b"/>
            <a:pathLst>
              <a:path w="2975865" h="4191359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287874" y="7271504"/>
            <a:ext cx="4949069" cy="5216410"/>
          </a:xfrm>
          <a:custGeom>
            <a:avLst/>
            <a:gdLst/>
            <a:ahLst/>
            <a:cxnLst/>
            <a:rect l="l" t="t" r="r" b="b"/>
            <a:pathLst>
              <a:path w="4949069" h="5216410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171442" y="190500"/>
            <a:ext cx="9829801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986"/>
              </a:lnSpc>
            </a:pPr>
            <a:r>
              <a:rPr lang="ka-GE" sz="6590" dirty="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მონაცემთა ბაზის სქემა — </a:t>
            </a:r>
            <a:r>
              <a:rPr lang="en-US" sz="6590" dirty="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Album Model</a:t>
            </a: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20479407-7ABB-7A2D-2375-180AB4BD5C9F}"/>
              </a:ext>
            </a:extLst>
          </p:cNvPr>
          <p:cNvSpPr/>
          <p:nvPr/>
        </p:nvSpPr>
        <p:spPr>
          <a:xfrm>
            <a:off x="496119" y="1307604"/>
            <a:ext cx="11695881" cy="5588496"/>
          </a:xfrm>
          <a:prstGeom prst="roundRect">
            <a:avLst>
              <a:gd name="adj" fmla="val 133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ka-GE"/>
          </a:p>
        </p:txBody>
      </p:sp>
      <p:graphicFrame>
        <p:nvGraphicFramePr>
          <p:cNvPr id="212" name="Table 211">
            <a:extLst>
              <a:ext uri="{FF2B5EF4-FFF2-40B4-BE49-F238E27FC236}">
                <a16:creationId xmlns:a16="http://schemas.microsoft.com/office/drawing/2014/main" id="{F4FB05D4-654A-6536-79B9-E4EA369D3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98116"/>
              </p:ext>
            </p:extLst>
          </p:nvPr>
        </p:nvGraphicFramePr>
        <p:xfrm>
          <a:off x="1523664" y="2024144"/>
          <a:ext cx="15926135" cy="62337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4438">
                  <a:extLst>
                    <a:ext uri="{9D8B030D-6E8A-4147-A177-3AD203B41FA5}">
                      <a16:colId xmlns:a16="http://schemas.microsoft.com/office/drawing/2014/main" val="2559956918"/>
                    </a:ext>
                  </a:extLst>
                </a:gridCol>
                <a:gridCol w="3605917">
                  <a:extLst>
                    <a:ext uri="{9D8B030D-6E8A-4147-A177-3AD203B41FA5}">
                      <a16:colId xmlns:a16="http://schemas.microsoft.com/office/drawing/2014/main" val="3376016837"/>
                    </a:ext>
                  </a:extLst>
                </a:gridCol>
                <a:gridCol w="3205259">
                  <a:extLst>
                    <a:ext uri="{9D8B030D-6E8A-4147-A177-3AD203B41FA5}">
                      <a16:colId xmlns:a16="http://schemas.microsoft.com/office/drawing/2014/main" val="2932213864"/>
                    </a:ext>
                  </a:extLst>
                </a:gridCol>
                <a:gridCol w="6410521">
                  <a:extLst>
                    <a:ext uri="{9D8B030D-6E8A-4147-A177-3AD203B41FA5}">
                      <a16:colId xmlns:a16="http://schemas.microsoft.com/office/drawing/2014/main" val="837716282"/>
                    </a:ext>
                  </a:extLst>
                </a:gridCol>
              </a:tblGrid>
              <a:tr h="421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a-GE" sz="2000" b="1" noProof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ველი</a:t>
                      </a:r>
                      <a:endParaRPr lang="ka-GE" sz="2000" noProof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a-GE" sz="2000" b="1" noProof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მონაცემთა ტიპი</a:t>
                      </a:r>
                      <a:endParaRPr lang="ka-GE" sz="2000" noProof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a-GE" sz="2000" b="1" noProof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შეზღუდვები</a:t>
                      </a:r>
                      <a:endParaRPr lang="ka-GE" sz="2000" noProof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a-GE" sz="2000" b="1" noProof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აღწერა </a:t>
                      </a:r>
                      <a:endParaRPr lang="ka-GE" sz="2000" noProof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052037"/>
                  </a:ext>
                </a:extLst>
              </a:tr>
              <a:tr h="7554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Id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უნიკალური იდენტიფიკატორი. გენერირდება ავტომატურად SQL </a:t>
                      </a:r>
                      <a:r>
                        <a:rPr lang="en-US" sz="1700" noProof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Server-ის</a:t>
                      </a: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მიერ. გამოიყენება Routing</a:t>
                      </a:r>
                      <a:r>
                        <a:rPr lang="ka-GE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-</a:t>
                      </a: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ში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512782"/>
                  </a:ext>
                </a:extLst>
              </a:tr>
              <a:tr h="8136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Name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String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[Required]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ალბომის სახელწოდება. სავალდებულო ველი. ვალიდაციის შეცდომა ჩნდება თუ ველი ცარიელია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826399"/>
                  </a:ext>
                </a:extLst>
              </a:tr>
              <a:tr h="53016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Artist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String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[Required]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შემსრულებლის ან ჯგუფის სახელი. სავალდებულო ველი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51368"/>
                  </a:ext>
                </a:extLst>
              </a:tr>
              <a:tr h="100141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Type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String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[Required]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ფიზიკური ფორმატი. შეზღუდულია სამი დასაშვები მნიშვნელობით. გამოიყენება კატეგორიზაციისთვის და ფილტრაციისთვის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271107"/>
                  </a:ext>
                </a:extLst>
              </a:tr>
              <a:tr h="100141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String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[Required]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a-GE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სავალდებულო ველი, რომელიც მომხმარებელს დამატებითი ინფორმაციის შეყვანის საშუალებას აძლევს</a:t>
                      </a:r>
                      <a:endParaRPr lang="en-US" sz="17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113711"/>
                  </a:ext>
                </a:extLst>
              </a:tr>
              <a:tr h="72959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IsOwned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Bool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ფლობის სტატუსი.</a:t>
                      </a:r>
                      <a:r>
                        <a:rPr lang="ka-GE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True  = კოლექციაშია (Owned), false = </a:t>
                      </a:r>
                      <a:r>
                        <a:rPr lang="en-US" sz="17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Wishlist</a:t>
                      </a:r>
                      <a:endParaRPr lang="en-US" sz="17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688106"/>
                  </a:ext>
                </a:extLst>
              </a:tr>
              <a:tr h="980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Rating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Decimal 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a-GE" sz="20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en-US" sz="20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Range(0, 10)]</a:t>
                      </a:r>
                      <a:endParaRPr lang="ka-G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პერსონალური </a:t>
                      </a:r>
                      <a:r>
                        <a:rPr lang="ka-GE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შეფასების სისტემა (0-</a:t>
                      </a: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10</a:t>
                      </a:r>
                      <a:r>
                        <a:rPr lang="ka-GE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. ინახება ათწილადი რიცხვის სახით (მაგ. 7.5, 9.0). </a:t>
                      </a:r>
                      <a:r>
                        <a:rPr lang="ka-GE" sz="1700" noProof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საშუალებას</a:t>
                      </a:r>
                      <a:r>
                        <a:rPr lang="en-US" sz="17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აძლევს მომხმარებელს შეაფასოს ალბომი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72921"/>
                  </a:ext>
                </a:extLst>
              </a:tr>
            </a:tbl>
          </a:graphicData>
        </a:graphic>
      </p:graphicFrame>
      <p:sp>
        <p:nvSpPr>
          <p:cNvPr id="218" name="Shape 33">
            <a:extLst>
              <a:ext uri="{FF2B5EF4-FFF2-40B4-BE49-F238E27FC236}">
                <a16:creationId xmlns:a16="http://schemas.microsoft.com/office/drawing/2014/main" id="{C8AF1CF1-4681-426C-AB6B-AC60EBAE4698}"/>
              </a:ext>
            </a:extLst>
          </p:cNvPr>
          <p:cNvSpPr/>
          <p:nvPr/>
        </p:nvSpPr>
        <p:spPr>
          <a:xfrm>
            <a:off x="1295400" y="8518539"/>
            <a:ext cx="16383000" cy="1273161"/>
          </a:xfrm>
          <a:prstGeom prst="roundRect">
            <a:avLst>
              <a:gd name="adj" fmla="val 8614"/>
            </a:avLst>
          </a:prstGeom>
          <a:solidFill>
            <a:srgbClr val="283157"/>
          </a:solidFill>
          <a:ln/>
        </p:spPr>
        <p:txBody>
          <a:bodyPr/>
          <a:lstStyle/>
          <a:p>
            <a:endParaRPr lang="ka-GE"/>
          </a:p>
        </p:txBody>
      </p:sp>
      <p:pic>
        <p:nvPicPr>
          <p:cNvPr id="220" name="Image 0" descr="preencoded.png">
            <a:extLst>
              <a:ext uri="{FF2B5EF4-FFF2-40B4-BE49-F238E27FC236}">
                <a16:creationId xmlns:a16="http://schemas.microsoft.com/office/drawing/2014/main" id="{5B58620A-D603-0EBE-FA62-40DE7ED38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665" y="8632635"/>
            <a:ext cx="428752" cy="343112"/>
          </a:xfrm>
          <a:prstGeom prst="rect">
            <a:avLst/>
          </a:prstGeom>
        </p:spPr>
      </p:pic>
      <p:sp>
        <p:nvSpPr>
          <p:cNvPr id="222" name="Text 34">
            <a:extLst>
              <a:ext uri="{FF2B5EF4-FFF2-40B4-BE49-F238E27FC236}">
                <a16:creationId xmlns:a16="http://schemas.microsoft.com/office/drawing/2014/main" id="{886C44FD-36F8-345B-7FA8-F4B04280D0F1}"/>
              </a:ext>
            </a:extLst>
          </p:cNvPr>
          <p:cNvSpPr/>
          <p:nvPr/>
        </p:nvSpPr>
        <p:spPr>
          <a:xfrm>
            <a:off x="2076033" y="8611482"/>
            <a:ext cx="15373767" cy="1013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Entity Framework Core ავტომატურად </a:t>
            </a:r>
            <a:r>
              <a:rPr lang="ka-GE" sz="20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ა</a:t>
            </a:r>
            <a:r>
              <a:rPr lang="en-US" sz="20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გენერირებს SQL სქემას Album კლასიდან </a:t>
            </a:r>
            <a:r>
              <a:rPr lang="en-US" sz="2000" dirty="0">
                <a:solidFill>
                  <a:srgbClr val="FFFFF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Add-Migration</a:t>
            </a:r>
            <a:r>
              <a:rPr lang="en-US" sz="20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და </a:t>
            </a:r>
            <a:r>
              <a:rPr lang="en-US" sz="2000" dirty="0">
                <a:solidFill>
                  <a:srgbClr val="FFFFF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Update-Database</a:t>
            </a:r>
            <a:r>
              <a:rPr lang="en-US" sz="20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ბრძანებების მეშვეობით. ყველა ვალიდაციის წესი ([Required], [Range]) გადაიცემა როგორც SQL CHECK შეზღუდვებად და Razor View-ს შეცდომის შეტყობინებებად.</a:t>
            </a:r>
            <a:endParaRPr lang="en-US" sz="2000" dirty="0"/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497</Words>
  <Application>Microsoft Office PowerPoint</Application>
  <PresentationFormat>Custom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Fredoka</vt:lpstr>
      <vt:lpstr>Fraunces Medium</vt:lpstr>
      <vt:lpstr>Epilogue</vt:lpstr>
      <vt:lpstr>Epilogue Bold</vt:lpstr>
      <vt:lpstr>Agrandir</vt:lpstr>
      <vt:lpstr>Consolas</vt:lpstr>
      <vt:lpstr>Arial</vt:lpstr>
      <vt:lpstr>Agrandir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Introduction to Coding Presentation</dc:title>
  <dc:creator>Eko Iakobishvili</dc:creator>
  <cp:lastModifiedBy>Eko Iakobishvili</cp:lastModifiedBy>
  <cp:revision>4</cp:revision>
  <dcterms:created xsi:type="dcterms:W3CDTF">2006-08-16T00:00:00Z</dcterms:created>
  <dcterms:modified xsi:type="dcterms:W3CDTF">2026-07-06T21:08:26Z</dcterms:modified>
  <dc:identifier>DAHOnqtcXag</dc:identifier>
</cp:coreProperties>
</file>